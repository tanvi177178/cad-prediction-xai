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notesMasterIdLst>
    <p:notesMasterId r:id="rId14"/>
  </p:notesMasterIdLst>
  <p:sldIdLst>
    <p:sldId id="287" r:id="rId2"/>
    <p:sldId id="277" r:id="rId3"/>
    <p:sldId id="336" r:id="rId4"/>
    <p:sldId id="335" r:id="rId5"/>
    <p:sldId id="345" r:id="rId6"/>
    <p:sldId id="333" r:id="rId7"/>
    <p:sldId id="337" r:id="rId8"/>
    <p:sldId id="346" r:id="rId9"/>
    <p:sldId id="341" r:id="rId10"/>
    <p:sldId id="347" r:id="rId11"/>
    <p:sldId id="334" r:id="rId12"/>
    <p:sldId id="34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EECE14-5736-4CAE-BCF3-76E7E66E67C3}" v="63" dt="2025-09-18T13:20:38.4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23" autoAdjust="0"/>
    <p:restoredTop sz="94660"/>
  </p:normalViewPr>
  <p:slideViewPr>
    <p:cSldViewPr snapToGrid="0">
      <p:cViewPr varScale="1">
        <p:scale>
          <a:sx n="73" d="100"/>
          <a:sy n="73" d="100"/>
        </p:scale>
        <p:origin x="82" y="17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vi Gawande" userId="99cdcbc35858e298" providerId="LiveId" clId="{64E0A5B7-06E4-4A87-BE55-E5766ED3759A}"/>
    <pc:docChg chg="undo custSel addSld delSld modSld sldOrd">
      <pc:chgData name="Tanvi Gawande" userId="99cdcbc35858e298" providerId="LiveId" clId="{64E0A5B7-06E4-4A87-BE55-E5766ED3759A}" dt="2025-10-10T06:53:56.222" v="557" actId="20577"/>
      <pc:docMkLst>
        <pc:docMk/>
      </pc:docMkLst>
      <pc:sldChg chg="modSp mod">
        <pc:chgData name="Tanvi Gawande" userId="99cdcbc35858e298" providerId="LiveId" clId="{64E0A5B7-06E4-4A87-BE55-E5766ED3759A}" dt="2025-10-10T06:28:05.384" v="435" actId="20577"/>
        <pc:sldMkLst>
          <pc:docMk/>
          <pc:sldMk cId="664174813" sldId="277"/>
        </pc:sldMkLst>
        <pc:spChg chg="mod">
          <ac:chgData name="Tanvi Gawande" userId="99cdcbc35858e298" providerId="LiveId" clId="{64E0A5B7-06E4-4A87-BE55-E5766ED3759A}" dt="2025-09-18T12:56:23.383" v="254" actId="1076"/>
          <ac:spMkLst>
            <pc:docMk/>
            <pc:sldMk cId="664174813" sldId="277"/>
            <ac:spMk id="2" creationId="{82E79BC8-9EAA-3A46-1EF7-7899BEA958EC}"/>
          </ac:spMkLst>
        </pc:spChg>
        <pc:spChg chg="mod">
          <ac:chgData name="Tanvi Gawande" userId="99cdcbc35858e298" providerId="LiveId" clId="{64E0A5B7-06E4-4A87-BE55-E5766ED3759A}" dt="2025-10-10T06:28:05.384" v="435" actId="20577"/>
          <ac:spMkLst>
            <pc:docMk/>
            <pc:sldMk cId="664174813" sldId="277"/>
            <ac:spMk id="3" creationId="{F02986D0-FF45-88A1-32C3-4E1BEDB25FE2}"/>
          </ac:spMkLst>
        </pc:spChg>
      </pc:sldChg>
      <pc:sldChg chg="modSp add del mod ord">
        <pc:chgData name="Tanvi Gawande" userId="99cdcbc35858e298" providerId="LiveId" clId="{64E0A5B7-06E4-4A87-BE55-E5766ED3759A}" dt="2025-09-18T13:01:36.205" v="358" actId="20577"/>
        <pc:sldMkLst>
          <pc:docMk/>
          <pc:sldMk cId="935724856" sldId="287"/>
        </pc:sldMkLst>
        <pc:spChg chg="mod">
          <ac:chgData name="Tanvi Gawande" userId="99cdcbc35858e298" providerId="LiveId" clId="{64E0A5B7-06E4-4A87-BE55-E5766ED3759A}" dt="2025-09-18T13:01:16.428" v="354" actId="20577"/>
          <ac:spMkLst>
            <pc:docMk/>
            <pc:sldMk cId="935724856" sldId="287"/>
            <ac:spMk id="5" creationId="{1E727D48-DC07-4968-A6E6-603655956D7D}"/>
          </ac:spMkLst>
        </pc:spChg>
        <pc:spChg chg="mod">
          <ac:chgData name="Tanvi Gawande" userId="99cdcbc35858e298" providerId="LiveId" clId="{64E0A5B7-06E4-4A87-BE55-E5766ED3759A}" dt="2025-09-18T13:00:31.586" v="338" actId="20577"/>
          <ac:spMkLst>
            <pc:docMk/>
            <pc:sldMk cId="935724856" sldId="287"/>
            <ac:spMk id="6" creationId="{9FB9D9A0-0C2A-4F54-A980-3E89EE79CD97}"/>
          </ac:spMkLst>
        </pc:spChg>
        <pc:spChg chg="mod">
          <ac:chgData name="Tanvi Gawande" userId="99cdcbc35858e298" providerId="LiveId" clId="{64E0A5B7-06E4-4A87-BE55-E5766ED3759A}" dt="2025-09-18T13:01:36.205" v="358" actId="20577"/>
          <ac:spMkLst>
            <pc:docMk/>
            <pc:sldMk cId="935724856" sldId="287"/>
            <ac:spMk id="10" creationId="{ABFA1848-4919-4707-82EB-2F2B0B189129}"/>
          </ac:spMkLst>
        </pc:spChg>
        <pc:spChg chg="mod">
          <ac:chgData name="Tanvi Gawande" userId="99cdcbc35858e298" providerId="LiveId" clId="{64E0A5B7-06E4-4A87-BE55-E5766ED3759A}" dt="2025-09-18T13:01:23.128" v="355"/>
          <ac:spMkLst>
            <pc:docMk/>
            <pc:sldMk cId="935724856" sldId="287"/>
            <ac:spMk id="18" creationId="{40D2B5AC-E317-9AA2-00DD-A5E54EE7335A}"/>
          </ac:spMkLst>
        </pc:spChg>
      </pc:sldChg>
      <pc:sldChg chg="modSp mod ord">
        <pc:chgData name="Tanvi Gawande" userId="99cdcbc35858e298" providerId="LiveId" clId="{64E0A5B7-06E4-4A87-BE55-E5766ED3759A}" dt="2025-09-18T12:57:59.104" v="264" actId="1076"/>
        <pc:sldMkLst>
          <pc:docMk/>
          <pc:sldMk cId="2085573864" sldId="334"/>
        </pc:sldMkLst>
        <pc:spChg chg="mod">
          <ac:chgData name="Tanvi Gawande" userId="99cdcbc35858e298" providerId="LiveId" clId="{64E0A5B7-06E4-4A87-BE55-E5766ED3759A}" dt="2025-09-18T11:42:05.468" v="59"/>
          <ac:spMkLst>
            <pc:docMk/>
            <pc:sldMk cId="2085573864" sldId="334"/>
            <ac:spMk id="2" creationId="{C413C32D-7C3F-8ECC-6DE9-E055E1391F47}"/>
          </ac:spMkLst>
        </pc:spChg>
        <pc:spChg chg="mod">
          <ac:chgData name="Tanvi Gawande" userId="99cdcbc35858e298" providerId="LiveId" clId="{64E0A5B7-06E4-4A87-BE55-E5766ED3759A}" dt="2025-09-18T12:57:59.104" v="264" actId="1076"/>
          <ac:spMkLst>
            <pc:docMk/>
            <pc:sldMk cId="2085573864" sldId="334"/>
            <ac:spMk id="3" creationId="{68746859-171C-661F-DE83-FD0BB2618E51}"/>
          </ac:spMkLst>
        </pc:spChg>
      </pc:sldChg>
      <pc:sldChg chg="modSp mod ord">
        <pc:chgData name="Tanvi Gawande" userId="99cdcbc35858e298" providerId="LiveId" clId="{64E0A5B7-06E4-4A87-BE55-E5766ED3759A}" dt="2025-10-10T06:53:56.222" v="557" actId="20577"/>
        <pc:sldMkLst>
          <pc:docMk/>
          <pc:sldMk cId="3563284611" sldId="335"/>
        </pc:sldMkLst>
        <pc:spChg chg="mod">
          <ac:chgData name="Tanvi Gawande" userId="99cdcbc35858e298" providerId="LiveId" clId="{64E0A5B7-06E4-4A87-BE55-E5766ED3759A}" dt="2025-10-10T06:53:56.222" v="557" actId="20577"/>
          <ac:spMkLst>
            <pc:docMk/>
            <pc:sldMk cId="3563284611" sldId="335"/>
            <ac:spMk id="3" creationId="{920CE2E1-3D77-986E-DA77-460242B79A59}"/>
          </ac:spMkLst>
        </pc:spChg>
      </pc:sldChg>
      <pc:sldChg chg="modSp mod ord">
        <pc:chgData name="Tanvi Gawande" userId="99cdcbc35858e298" providerId="LiveId" clId="{64E0A5B7-06E4-4A87-BE55-E5766ED3759A}" dt="2025-10-10T06:42:38.204" v="546" actId="1076"/>
        <pc:sldMkLst>
          <pc:docMk/>
          <pc:sldMk cId="3285778631" sldId="336"/>
        </pc:sldMkLst>
        <pc:spChg chg="mod">
          <ac:chgData name="Tanvi Gawande" userId="99cdcbc35858e298" providerId="LiveId" clId="{64E0A5B7-06E4-4A87-BE55-E5766ED3759A}" dt="2025-10-10T06:42:38.204" v="546" actId="1076"/>
          <ac:spMkLst>
            <pc:docMk/>
            <pc:sldMk cId="3285778631" sldId="336"/>
            <ac:spMk id="2" creationId="{A6DB410C-3CA6-1435-BCBB-839C719A66D0}"/>
          </ac:spMkLst>
        </pc:spChg>
        <pc:spChg chg="mod">
          <ac:chgData name="Tanvi Gawande" userId="99cdcbc35858e298" providerId="LiveId" clId="{64E0A5B7-06E4-4A87-BE55-E5766ED3759A}" dt="2025-09-18T12:55:28.247" v="249" actId="1076"/>
          <ac:spMkLst>
            <pc:docMk/>
            <pc:sldMk cId="3285778631" sldId="336"/>
            <ac:spMk id="3" creationId="{C215F2A2-863A-5746-8AB9-57290C28C658}"/>
          </ac:spMkLst>
        </pc:spChg>
      </pc:sldChg>
      <pc:sldChg chg="addSp delSp modSp mod ord">
        <pc:chgData name="Tanvi Gawande" userId="99cdcbc35858e298" providerId="LiveId" clId="{64E0A5B7-06E4-4A87-BE55-E5766ED3759A}" dt="2025-09-18T12:45:49.667" v="222"/>
        <pc:sldMkLst>
          <pc:docMk/>
          <pc:sldMk cId="3868125420" sldId="337"/>
        </pc:sldMkLst>
        <pc:spChg chg="mod">
          <ac:chgData name="Tanvi Gawande" userId="99cdcbc35858e298" providerId="LiveId" clId="{64E0A5B7-06E4-4A87-BE55-E5766ED3759A}" dt="2025-09-18T12:25:57.388" v="136" actId="1076"/>
          <ac:spMkLst>
            <pc:docMk/>
            <pc:sldMk cId="3868125420" sldId="337"/>
            <ac:spMk id="2" creationId="{2B1BCA6B-C7C0-C020-9908-79D94F3BD4BF}"/>
          </ac:spMkLst>
        </pc:spChg>
        <pc:spChg chg="add mod">
          <ac:chgData name="Tanvi Gawande" userId="99cdcbc35858e298" providerId="LiveId" clId="{64E0A5B7-06E4-4A87-BE55-E5766ED3759A}" dt="2025-09-18T12:26:37.776" v="137" actId="1076"/>
          <ac:spMkLst>
            <pc:docMk/>
            <pc:sldMk cId="3868125420" sldId="337"/>
            <ac:spMk id="14" creationId="{843A13ED-4368-E1F4-A4A8-9936D553067A}"/>
          </ac:spMkLst>
        </pc:spChg>
      </pc:sldChg>
      <pc:sldChg chg="addSp modSp mod ord">
        <pc:chgData name="Tanvi Gawande" userId="99cdcbc35858e298" providerId="LiveId" clId="{64E0A5B7-06E4-4A87-BE55-E5766ED3759A}" dt="2025-10-10T06:33:22.365" v="544" actId="20577"/>
        <pc:sldMkLst>
          <pc:docMk/>
          <pc:sldMk cId="3513846296" sldId="341"/>
        </pc:sldMkLst>
        <pc:spChg chg="mod">
          <ac:chgData name="Tanvi Gawande" userId="99cdcbc35858e298" providerId="LiveId" clId="{64E0A5B7-06E4-4A87-BE55-E5766ED3759A}" dt="2025-09-18T13:18:32.077" v="374" actId="20577"/>
          <ac:spMkLst>
            <pc:docMk/>
            <pc:sldMk cId="3513846296" sldId="341"/>
            <ac:spMk id="2" creationId="{A2AAD02B-6ABF-5A19-1034-713C1D17CB6C}"/>
          </ac:spMkLst>
        </pc:spChg>
        <pc:spChg chg="mod">
          <ac:chgData name="Tanvi Gawande" userId="99cdcbc35858e298" providerId="LiveId" clId="{64E0A5B7-06E4-4A87-BE55-E5766ED3759A}" dt="2025-10-10T06:33:22.365" v="544" actId="20577"/>
          <ac:spMkLst>
            <pc:docMk/>
            <pc:sldMk cId="3513846296" sldId="341"/>
            <ac:spMk id="3" creationId="{A7D43187-98AC-455F-9489-6D2B435F3F00}"/>
          </ac:spMkLst>
        </pc:spChg>
      </pc:sldChg>
      <pc:sldChg chg="del">
        <pc:chgData name="Tanvi Gawande" userId="99cdcbc35858e298" providerId="LiveId" clId="{64E0A5B7-06E4-4A87-BE55-E5766ED3759A}" dt="2025-09-18T11:42:22.965" v="64" actId="47"/>
        <pc:sldMkLst>
          <pc:docMk/>
          <pc:sldMk cId="1712709706" sldId="342"/>
        </pc:sldMkLst>
      </pc:sldChg>
      <pc:sldChg chg="modSp">
        <pc:chgData name="Tanvi Gawande" userId="99cdcbc35858e298" providerId="LiveId" clId="{64E0A5B7-06E4-4A87-BE55-E5766ED3759A}" dt="2025-09-18T12:53:45.846" v="245"/>
        <pc:sldMkLst>
          <pc:docMk/>
          <pc:sldMk cId="3601649764" sldId="344"/>
        </pc:sldMkLst>
        <pc:spChg chg="mod">
          <ac:chgData name="Tanvi Gawande" userId="99cdcbc35858e298" providerId="LiveId" clId="{64E0A5B7-06E4-4A87-BE55-E5766ED3759A}" dt="2025-09-18T12:53:45.846" v="245"/>
          <ac:spMkLst>
            <pc:docMk/>
            <pc:sldMk cId="3601649764" sldId="344"/>
            <ac:spMk id="8" creationId="{97186F28-77C4-B5D9-3F96-3D83EB615A6B}"/>
          </ac:spMkLst>
        </pc:spChg>
      </pc:sldChg>
      <pc:sldChg chg="addSp modSp new mod ord">
        <pc:chgData name="Tanvi Gawande" userId="99cdcbc35858e298" providerId="LiveId" clId="{64E0A5B7-06E4-4A87-BE55-E5766ED3759A}" dt="2025-09-18T12:54:12.137" v="247"/>
        <pc:sldMkLst>
          <pc:docMk/>
          <pc:sldMk cId="1071845690" sldId="345"/>
        </pc:sldMkLst>
        <pc:spChg chg="mod">
          <ac:chgData name="Tanvi Gawande" userId="99cdcbc35858e298" providerId="LiveId" clId="{64E0A5B7-06E4-4A87-BE55-E5766ED3759A}" dt="2025-09-18T12:54:12.137" v="247"/>
          <ac:spMkLst>
            <pc:docMk/>
            <pc:sldMk cId="1071845690" sldId="345"/>
            <ac:spMk id="2" creationId="{C67DA3FD-F397-E18F-E834-F66B396FF6D4}"/>
          </ac:spMkLst>
        </pc:spChg>
        <pc:spChg chg="mod">
          <ac:chgData name="Tanvi Gawande" userId="99cdcbc35858e298" providerId="LiveId" clId="{64E0A5B7-06E4-4A87-BE55-E5766ED3759A}" dt="2025-09-18T12:52:28.842" v="237"/>
          <ac:spMkLst>
            <pc:docMk/>
            <pc:sldMk cId="1071845690" sldId="345"/>
            <ac:spMk id="3" creationId="{F900627E-8866-7014-DE9D-F8D38D84F25A}"/>
          </ac:spMkLst>
        </pc:spChg>
        <pc:picChg chg="add mod">
          <ac:chgData name="Tanvi Gawande" userId="99cdcbc35858e298" providerId="LiveId" clId="{64E0A5B7-06E4-4A87-BE55-E5766ED3759A}" dt="2025-09-18T12:43:37.916" v="210" actId="1076"/>
          <ac:picMkLst>
            <pc:docMk/>
            <pc:sldMk cId="1071845690" sldId="345"/>
            <ac:picMk id="6" creationId="{43B6450D-CDA9-FE6E-E624-B4FFDF2938FC}"/>
          </ac:picMkLst>
        </pc:picChg>
        <pc:picChg chg="add mod">
          <ac:chgData name="Tanvi Gawande" userId="99cdcbc35858e298" providerId="LiveId" clId="{64E0A5B7-06E4-4A87-BE55-E5766ED3759A}" dt="2025-09-18T12:43:47.781" v="213" actId="1076"/>
          <ac:picMkLst>
            <pc:docMk/>
            <pc:sldMk cId="1071845690" sldId="345"/>
            <ac:picMk id="10" creationId="{2C936B79-2ADE-5F78-026C-C098D620DE09}"/>
          </ac:picMkLst>
        </pc:picChg>
      </pc:sldChg>
      <pc:sldChg chg="addSp delSp modSp new mod ord">
        <pc:chgData name="Tanvi Gawande" userId="99cdcbc35858e298" providerId="LiveId" clId="{64E0A5B7-06E4-4A87-BE55-E5766ED3759A}" dt="2025-09-18T13:12:54.551" v="363" actId="1076"/>
        <pc:sldMkLst>
          <pc:docMk/>
          <pc:sldMk cId="2485655572" sldId="346"/>
        </pc:sldMkLst>
        <pc:spChg chg="mod">
          <ac:chgData name="Tanvi Gawande" userId="99cdcbc35858e298" providerId="LiveId" clId="{64E0A5B7-06E4-4A87-BE55-E5766ED3759A}" dt="2025-09-18T12:53:55.045" v="246"/>
          <ac:spMkLst>
            <pc:docMk/>
            <pc:sldMk cId="2485655572" sldId="346"/>
            <ac:spMk id="2" creationId="{67163E53-7095-842F-F972-AE70E0B7AE0B}"/>
          </ac:spMkLst>
        </pc:spChg>
        <pc:spChg chg="mod">
          <ac:chgData name="Tanvi Gawande" userId="99cdcbc35858e298" providerId="LiveId" clId="{64E0A5B7-06E4-4A87-BE55-E5766ED3759A}" dt="2025-09-18T12:52:46.191" v="239"/>
          <ac:spMkLst>
            <pc:docMk/>
            <pc:sldMk cId="2485655572" sldId="346"/>
            <ac:spMk id="3" creationId="{9775E300-A1C6-4677-F546-4FF88C2F4F25}"/>
          </ac:spMkLst>
        </pc:spChg>
        <pc:picChg chg="add mod">
          <ac:chgData name="Tanvi Gawande" userId="99cdcbc35858e298" providerId="LiveId" clId="{64E0A5B7-06E4-4A87-BE55-E5766ED3759A}" dt="2025-09-18T13:12:54.551" v="363" actId="1076"/>
          <ac:picMkLst>
            <pc:docMk/>
            <pc:sldMk cId="2485655572" sldId="346"/>
            <ac:picMk id="2052" creationId="{69512060-773D-77D6-A831-3FE162C220F3}"/>
          </ac:picMkLst>
        </pc:picChg>
      </pc:sldChg>
      <pc:sldChg chg="add">
        <pc:chgData name="Tanvi Gawande" userId="99cdcbc35858e298" providerId="LiveId" clId="{64E0A5B7-06E4-4A87-BE55-E5766ED3759A}" dt="2025-09-18T13:18:13.958" v="364"/>
        <pc:sldMkLst>
          <pc:docMk/>
          <pc:sldMk cId="934168531" sldId="34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FB7F54-65C1-4E03-993E-DC17D685E0A8}" type="datetimeFigureOut">
              <a:rPr lang="en-IN" smtClean="0"/>
              <a:pPr/>
              <a:t>10-10-2025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F6A916-BDAC-4605-A330-A76F123E2FFE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1675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6A916-BDAC-4605-A330-A76F123E2FFE}" type="slidenum">
              <a:rPr lang="en-IN" smtClean="0"/>
              <a:pPr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9578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6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2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A Unified Portal for Jobs &amp; Internships Platform for Technical </a:t>
            </a:r>
            <a:r>
              <a:rPr lang="en-US" dirty="0" err="1"/>
              <a:t>Eduction</a:t>
            </a:r>
            <a:r>
              <a:rPr lang="en-US" dirty="0"/>
              <a:t> Department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SIPNA COET, AMRAVATI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2B982-4A02-40A4-BA6B-3A97BEC7CA34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5258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A Unified Portal for Jobs &amp; Internships Platform for Technical </a:t>
            </a:r>
            <a:r>
              <a:rPr lang="en-US" dirty="0" err="1"/>
              <a:t>Eduction</a:t>
            </a:r>
            <a:r>
              <a:rPr lang="en-US" dirty="0"/>
              <a:t> Department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SIPNA COET, AMRAVATI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2B982-4A02-40A4-BA6B-3A97BEC7CA3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453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6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A Unified Portal for Jobs &amp; Internships Platform for Technical </a:t>
            </a:r>
            <a:r>
              <a:rPr lang="en-US" dirty="0" err="1"/>
              <a:t>Eduction</a:t>
            </a:r>
            <a:r>
              <a:rPr lang="en-US" dirty="0"/>
              <a:t> Department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SIPNA COET, AMRAVATI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2B982-4A02-40A4-BA6B-3A97BEC7CA34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9163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A Unified Portal for Jobs &amp; Internships Platform for Technical </a:t>
            </a:r>
            <a:r>
              <a:rPr lang="en-US" dirty="0" err="1"/>
              <a:t>Eduction</a:t>
            </a:r>
            <a:r>
              <a:rPr lang="en-US" dirty="0"/>
              <a:t> Department</a:t>
            </a:r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SIPNA COET, AMRAVATI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2B982-4A02-40A4-BA6B-3A97BEC7CA3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6407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A Unified Portal for Jobs &amp; Internships Platform for Technical </a:t>
            </a:r>
            <a:r>
              <a:rPr lang="en-US" dirty="0" err="1"/>
              <a:t>Eduction</a:t>
            </a:r>
            <a:r>
              <a:rPr lang="en-US" dirty="0"/>
              <a:t> Department</a:t>
            </a:r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SIPNA COET, AMRAVATI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2B982-4A02-40A4-BA6B-3A97BEC7CA3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7944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A Unified Portal for Jobs &amp; Internships Platform for Technical </a:t>
            </a:r>
            <a:r>
              <a:rPr lang="en-US" dirty="0" err="1"/>
              <a:t>Eduction</a:t>
            </a:r>
            <a:r>
              <a:rPr lang="en-US" dirty="0"/>
              <a:t> Department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SIPNA COET, AMRAVATI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2B982-4A02-40A4-BA6B-3A97BEC7CA3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487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6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A Unified Portal for Jobs &amp; Internships Platform for Technical </a:t>
            </a:r>
            <a:r>
              <a:rPr lang="en-US" dirty="0" err="1"/>
              <a:t>Eduction</a:t>
            </a:r>
            <a:r>
              <a:rPr lang="en-US" dirty="0"/>
              <a:t> Department</a:t>
            </a:r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IN"/>
              <a:t>SIPNA COET, AMRAVATI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2B982-4A02-40A4-BA6B-3A97BEC7CA3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1658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2" y="0"/>
            <a:ext cx="640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2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1" y="6459786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A Unified Portal for Jobs &amp; Internships Platform for Technical </a:t>
            </a:r>
            <a:r>
              <a:rPr lang="en-US" dirty="0" err="1"/>
              <a:t>Eduction</a:t>
            </a:r>
            <a:r>
              <a:rPr lang="en-US" dirty="0"/>
              <a:t> Department</a:t>
            </a:r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6"/>
            <a:ext cx="4648201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IN"/>
              <a:t>SIPNA COET, AMRAVATI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AA2B982-4A02-40A4-BA6B-3A97BEC7CA3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354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6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1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" y="0"/>
            <a:ext cx="12191986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1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A Unified Portal for Jobs &amp; Internships Platform for Technical </a:t>
            </a:r>
            <a:r>
              <a:rPr lang="en-US" dirty="0" err="1"/>
              <a:t>Eduction</a:t>
            </a:r>
            <a:r>
              <a:rPr lang="en-US" dirty="0"/>
              <a:t> Department</a:t>
            </a:r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SIPNA COET, AMRAVATI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2B982-4A02-40A4-BA6B-3A97BEC7CA3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9348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A Unified Portal for Jobs &amp; Internships Platform for Technical </a:t>
            </a:r>
            <a:r>
              <a:rPr lang="en-US" dirty="0" err="1"/>
              <a:t>Eduction</a:t>
            </a:r>
            <a:r>
              <a:rPr lang="en-US" dirty="0"/>
              <a:t> Department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SIPNA COET, AMRAVATI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2B982-4A02-40A4-BA6B-3A97BEC7CA3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4637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6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414779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A Unified Portal for Jobs &amp; Internships Platform for Technical </a:t>
            </a:r>
            <a:r>
              <a:rPr lang="en-US" dirty="0" err="1"/>
              <a:t>Eduction</a:t>
            </a:r>
            <a:r>
              <a:rPr lang="en-US" dirty="0"/>
              <a:t> Department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SIPNA COET, AMRAVATI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2B982-4A02-40A4-BA6B-3A97BEC7CA3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6191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" y="6334316"/>
            <a:ext cx="12192002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2" y="6459786"/>
            <a:ext cx="24722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A Unified Portal for Jobs &amp; Internships Platform for Technical </a:t>
            </a:r>
            <a:r>
              <a:rPr lang="en-US" dirty="0" err="1"/>
              <a:t>Eduction</a:t>
            </a:r>
            <a:r>
              <a:rPr lang="en-US" dirty="0"/>
              <a:t> Department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6" y="6459786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IN"/>
              <a:t>SIPNA COET, AMRAVATI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9" y="6459786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AA2B982-4A02-40A4-BA6B-3A97BEC7CA34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3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4657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E40542-4EAF-446B-A3B2-7BCEE4B40EB1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5" t="6276" r="7059" b="10564"/>
          <a:stretch/>
        </p:blipFill>
        <p:spPr bwMode="auto">
          <a:xfrm>
            <a:off x="10111525" y="381398"/>
            <a:ext cx="1742880" cy="154664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33F99332-2EC5-44D6-82BE-AE86C470E4FB}"/>
              </a:ext>
            </a:extLst>
          </p:cNvPr>
          <p:cNvSpPr txBox="1"/>
          <p:nvPr/>
        </p:nvSpPr>
        <p:spPr>
          <a:xfrm>
            <a:off x="4680750" y="2512721"/>
            <a:ext cx="25736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Presentation 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1E727D48-DC07-4968-A6E6-603655956D7D}"/>
              </a:ext>
            </a:extLst>
          </p:cNvPr>
          <p:cNvSpPr txBox="1"/>
          <p:nvPr/>
        </p:nvSpPr>
        <p:spPr>
          <a:xfrm>
            <a:off x="2779939" y="2945145"/>
            <a:ext cx="66321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“Coronary Artery Disease integrated with X-AI using technique SHAP”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FB9D9A0-0C2A-4F54-A980-3E89EE79CD97}"/>
              </a:ext>
            </a:extLst>
          </p:cNvPr>
          <p:cNvSpPr txBox="1"/>
          <p:nvPr/>
        </p:nvSpPr>
        <p:spPr>
          <a:xfrm>
            <a:off x="702604" y="4295008"/>
            <a:ext cx="362778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Riya M. Bhattad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Shraddha S.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Gobare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Tanvi R. Gawande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Rajnandini V. Kasar</a:t>
            </a:r>
          </a:p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9C9F3840-C507-442A-8F6C-22737183DC31}"/>
              </a:ext>
            </a:extLst>
          </p:cNvPr>
          <p:cNvSpPr txBox="1"/>
          <p:nvPr/>
        </p:nvSpPr>
        <p:spPr>
          <a:xfrm>
            <a:off x="2222678" y="523848"/>
            <a:ext cx="774664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VIDARBHA YOUTH WELFARE SOCIETY’S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 Ram Meghe College of Engineering &amp; Management, Badnera-Amravati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C82289-1D32-41D5-8151-5B1BBEA2E201}"/>
              </a:ext>
            </a:extLst>
          </p:cNvPr>
          <p:cNvSpPr txBox="1"/>
          <p:nvPr/>
        </p:nvSpPr>
        <p:spPr>
          <a:xfrm>
            <a:off x="2797241" y="1792170"/>
            <a:ext cx="6340627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BFA1848-4919-4707-82EB-2F2B0B189129}"/>
              </a:ext>
            </a:extLst>
          </p:cNvPr>
          <p:cNvSpPr txBox="1"/>
          <p:nvPr/>
        </p:nvSpPr>
        <p:spPr>
          <a:xfrm>
            <a:off x="8474998" y="5120221"/>
            <a:ext cx="32730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Ashish D. Sawant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995D65-E01E-4515-932E-476174F164DB}"/>
              </a:ext>
            </a:extLst>
          </p:cNvPr>
          <p:cNvSpPr/>
          <p:nvPr/>
        </p:nvSpPr>
        <p:spPr>
          <a:xfrm>
            <a:off x="279467" y="2064330"/>
            <a:ext cx="2023894" cy="49866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17145" algn="ctr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2025-2026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40D2B5AC-E317-9AA2-00DD-A5E54EE73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Coronary Artery Disease integrated with X-AI using technique SHAP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36D75C4-B5FF-D878-698C-4C8F20C08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PRMCEAM, BADNERA-AMRAVATI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868634A8-BCAB-12B3-0B05-6E693294A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2B982-4A02-40A4-BA6B-3A97BEC7CA34}" type="slidenum">
              <a:rPr lang="en-IN" smtClean="0"/>
              <a:pPr/>
              <a:t>1</a:t>
            </a:fld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B83D522-4319-5A8B-8223-FFA7FA8226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57" y="386395"/>
            <a:ext cx="1529459" cy="168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724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79BC8-9EAA-3A46-1EF7-7899BEA958EC}"/>
              </a:ext>
            </a:extLst>
          </p:cNvPr>
          <p:cNvSpPr txBox="1">
            <a:spLocks/>
          </p:cNvSpPr>
          <p:nvPr/>
        </p:nvSpPr>
        <p:spPr>
          <a:xfrm>
            <a:off x="447310" y="136422"/>
            <a:ext cx="10503492" cy="81500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defPPr>
              <a:defRPr lang="en-US"/>
            </a:defPPr>
            <a:lvl1pPr defTabSz="914400">
              <a:lnSpc>
                <a:spcPct val="85000"/>
              </a:lnSpc>
              <a:spcBef>
                <a:spcPct val="0"/>
              </a:spcBef>
              <a:buNone/>
              <a:defRPr sz="4800" spc="-50" baseline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IN" dirty="0"/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2986D0-FF45-88A1-32C3-4E1BEDB25FE2}"/>
              </a:ext>
            </a:extLst>
          </p:cNvPr>
          <p:cNvSpPr txBox="1"/>
          <p:nvPr/>
        </p:nvSpPr>
        <p:spPr>
          <a:xfrm>
            <a:off x="444036" y="641474"/>
            <a:ext cx="11747964" cy="5575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This project integrates Coronary Artery Disease prediction with </a:t>
            </a:r>
            <a:r>
              <a:rPr lang="en-US" sz="2400" b="1" dirty="0"/>
              <a:t>Explainable AI</a:t>
            </a:r>
            <a:r>
              <a:rPr lang="en-US" sz="2400" dirty="0"/>
              <a:t>, which will show </a:t>
            </a:r>
            <a:r>
              <a:rPr lang="en-US" sz="2400" b="1" dirty="0"/>
              <a:t>why</a:t>
            </a:r>
            <a:r>
              <a:rPr lang="en-US" sz="2400" dirty="0"/>
              <a:t> the model predicts that a patient may or may not have CAD, which make the results </a:t>
            </a:r>
            <a:r>
              <a:rPr lang="en-US" sz="2400" b="1" dirty="0"/>
              <a:t>explainable</a:t>
            </a:r>
            <a:r>
              <a:rPr lang="en-US" sz="2400" dirty="0"/>
              <a:t> through </a:t>
            </a:r>
            <a:r>
              <a:rPr lang="en-US" sz="2400" b="1" dirty="0"/>
              <a:t>X-AI</a:t>
            </a:r>
            <a:r>
              <a:rPr lang="en-US" sz="2400" dirty="0"/>
              <a:t> techniques like </a:t>
            </a:r>
            <a:r>
              <a:rPr lang="en-US" sz="2400" b="1" dirty="0"/>
              <a:t>SHAP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 	</a:t>
            </a:r>
            <a:r>
              <a:rPr lang="en-US" sz="2400" b="1" dirty="0"/>
              <a:t>This means: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 The model will </a:t>
            </a:r>
            <a:r>
              <a:rPr lang="en-US" sz="2400" b="1" dirty="0"/>
              <a:t>predict the risk of CAD</a:t>
            </a:r>
            <a:r>
              <a:rPr lang="en-US" sz="2400" dirty="0"/>
              <a:t> based on patient health data (age, </a:t>
            </a:r>
            <a:r>
              <a:rPr lang="en-US" sz="2000" dirty="0"/>
              <a:t>blood</a:t>
            </a:r>
            <a:r>
              <a:rPr lang="en-US" sz="2400" dirty="0"/>
              <a:t> pressure, cholesterol, etc.)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With SHAP, we can </a:t>
            </a:r>
            <a:r>
              <a:rPr lang="en-US" sz="2400" b="1" dirty="0"/>
              <a:t>visualize and interpret</a:t>
            </a:r>
            <a:r>
              <a:rPr lang="en-US" sz="2400" dirty="0"/>
              <a:t> which features (like high cholesterol, smoking, blood pressure) contributed most to each prediction.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Doctors and medical professionals can therefore </a:t>
            </a:r>
            <a:r>
              <a:rPr lang="en-US" sz="2400" b="1" dirty="0"/>
              <a:t>trust and understand</a:t>
            </a:r>
            <a:r>
              <a:rPr lang="en-US" sz="2400" dirty="0"/>
              <a:t> the model’s decision, instead of it being a “black box.”	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7E1462E-8F77-8151-9081-3B2D79A84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Coronary Artery Disease integrated with X-AI using technique SHAP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8285AF1-9039-C9A5-000F-1D704927F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PRMCEAM, BADNERA-AMRAVATI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7E06F1-9901-CE88-D2CB-EA6EEFE1E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2B982-4A02-40A4-BA6B-3A97BEC7CA34}" type="slidenum">
              <a:rPr lang="en-IN" smtClean="0"/>
              <a:pPr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4174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91C56-04C4-6242-2A4A-9FD7C3A20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B410C-3CA6-1435-BCBB-839C719A66D0}"/>
              </a:ext>
            </a:extLst>
          </p:cNvPr>
          <p:cNvSpPr txBox="1">
            <a:spLocks/>
          </p:cNvSpPr>
          <p:nvPr/>
        </p:nvSpPr>
        <p:spPr>
          <a:xfrm>
            <a:off x="636782" y="313525"/>
            <a:ext cx="10503492" cy="81500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defPPr>
              <a:defRPr lang="en-US"/>
            </a:defPPr>
            <a:lvl1pPr defTabSz="914400">
              <a:lnSpc>
                <a:spcPct val="85000"/>
              </a:lnSpc>
              <a:spcBef>
                <a:spcPct val="0"/>
              </a:spcBef>
              <a:buNone/>
              <a:defRPr sz="4800" spc="-50" baseline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15F2A2-863A-5746-8AB9-57290C28C658}"/>
              </a:ext>
            </a:extLst>
          </p:cNvPr>
          <p:cNvSpPr txBox="1"/>
          <p:nvPr/>
        </p:nvSpPr>
        <p:spPr>
          <a:xfrm>
            <a:off x="636782" y="1128533"/>
            <a:ext cx="1091843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Now, let’s first understand the problem.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CAD happens when the arteries that supply blood to the heart become narrow due to cholesterol deposits. This reduces blood flow and increases the risk of heart attack.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Doctors usually look at various factors — age, blood pressure, cholesterol, diabetes, smoking — before making a decision. But manually analyzing all these together can be time-consuming and sometimes difficult.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So, we thought: Can a computer help doctors by predicting CAD faster and more accurately?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The answer is yes — through Artificial Intelligence (AI).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E91C1A6-29ED-D39E-A39C-49D06B4D9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Coronary Artery Disease integrated with X-AI using technique SHAP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483523-58C3-12FA-27E3-FDFB5CCBC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PRMCEAM, BADNERA-AMRAVATI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966CC2A-48AC-DA35-F577-09CD9B4EE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2B982-4A02-40A4-BA6B-3A97BEC7CA34}" type="slidenum">
              <a:rPr lang="en-IN" smtClean="0"/>
              <a:pPr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778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0538A-D1D2-4693-1500-3F69C6CCF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94828-2BAB-5270-D2F2-F708909CD16A}"/>
              </a:ext>
            </a:extLst>
          </p:cNvPr>
          <p:cNvSpPr txBox="1">
            <a:spLocks/>
          </p:cNvSpPr>
          <p:nvPr/>
        </p:nvSpPr>
        <p:spPr>
          <a:xfrm>
            <a:off x="708993" y="424981"/>
            <a:ext cx="10503492" cy="81500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defPPr>
              <a:defRPr lang="en-US"/>
            </a:defPPr>
            <a:lvl1pPr defTabSz="914400">
              <a:lnSpc>
                <a:spcPct val="85000"/>
              </a:lnSpc>
              <a:spcBef>
                <a:spcPct val="0"/>
              </a:spcBef>
              <a:buNone/>
              <a:defRPr sz="4800" spc="-50" baseline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Objective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0CE2E1-3D77-986E-DA77-460242B79A59}"/>
              </a:ext>
            </a:extLst>
          </p:cNvPr>
          <p:cNvSpPr txBox="1"/>
          <p:nvPr/>
        </p:nvSpPr>
        <p:spPr>
          <a:xfrm>
            <a:off x="708992" y="1244146"/>
            <a:ext cx="10503493" cy="4467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To integrate </a:t>
            </a:r>
            <a:r>
              <a:rPr lang="en-US" sz="2400" b="1" dirty="0"/>
              <a:t>Explainable AI (X-AI)</a:t>
            </a:r>
            <a:r>
              <a:rPr lang="en-US" sz="2400" dirty="0"/>
              <a:t> methods so that predictions are transparent and understandable.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To help </a:t>
            </a:r>
            <a:r>
              <a:rPr lang="en-US" sz="2400" b="1" dirty="0"/>
              <a:t>doctors </a:t>
            </a:r>
            <a:r>
              <a:rPr lang="en-US" sz="2400" b="1"/>
              <a:t>and researches </a:t>
            </a:r>
            <a:r>
              <a:rPr lang="en-US" sz="2400"/>
              <a:t>trust </a:t>
            </a:r>
            <a:r>
              <a:rPr lang="en-US" sz="2400" dirty="0"/>
              <a:t>the model by providing clear reasoning behind predictions.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To build a </a:t>
            </a:r>
            <a:r>
              <a:rPr lang="en-US" sz="2400" b="1" dirty="0"/>
              <a:t>user-friendly interface</a:t>
            </a:r>
            <a:r>
              <a:rPr lang="en-US" sz="2400" dirty="0"/>
              <a:t> where patients or doctors can input data and instantly get predictions with explanations.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To contribute to the use of </a:t>
            </a:r>
            <a:r>
              <a:rPr lang="en-US" sz="2400" b="1" dirty="0"/>
              <a:t>AI in healthcare decision-making</a:t>
            </a:r>
            <a:r>
              <a:rPr lang="en-US" sz="2400" dirty="0"/>
              <a:t> by combining prediction and explanation in one system.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688B08E-F212-136A-353A-D562A693C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Coronary Artery Disease integrated with X-AI using technique SHAP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7E68E99-2E4E-92D0-F648-916971D2F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PRMCEAM, BADNERA-AMRAVATI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7BBA67D-A6CD-E492-43A8-EB9E87087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2B982-4A02-40A4-BA6B-3A97BEC7CA34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3284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7DA3FD-F397-E18F-E834-F66B396FF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Coronary Artery Disease integrated with X-AI using technique SHAP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00627E-8866-7014-DE9D-F8D38D84F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PRMCEAM, BADNERA-AMRAVATI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09D60-98FB-7471-B1FD-60CC14DB8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2B982-4A02-40A4-BA6B-3A97BEC7CA34}" type="slidenum">
              <a:rPr lang="en-IN" smtClean="0"/>
              <a:pPr/>
              <a:t>5</a:t>
            </a:fld>
            <a:endParaRPr lang="en-IN" dirty="0"/>
          </a:p>
        </p:txBody>
      </p:sp>
      <p:pic>
        <p:nvPicPr>
          <p:cNvPr id="6" name="Picture 5" descr="A diagram of a machine learning&#10;&#10;AI-generated content may be incorrect.">
            <a:extLst>
              <a:ext uri="{FF2B5EF4-FFF2-40B4-BE49-F238E27FC236}">
                <a16:creationId xmlns:a16="http://schemas.microsoft.com/office/drawing/2014/main" id="{43B6450D-CDA9-FE6E-E624-B4FFDF2938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64" y="413063"/>
            <a:ext cx="7374149" cy="6031874"/>
          </a:xfrm>
          <a:prstGeom prst="rect">
            <a:avLst/>
          </a:prstGeom>
        </p:spPr>
      </p:pic>
      <p:pic>
        <p:nvPicPr>
          <p:cNvPr id="10" name="Picture 9" descr="A diagram of a company&#10;&#10;AI-generated content may be incorrect.">
            <a:extLst>
              <a:ext uri="{FF2B5EF4-FFF2-40B4-BE49-F238E27FC236}">
                <a16:creationId xmlns:a16="http://schemas.microsoft.com/office/drawing/2014/main" id="{2C936B79-2ADE-5F78-026C-C098D620DE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1306" y="748146"/>
            <a:ext cx="4967130" cy="4526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845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97698-9DC1-33DF-17DE-3E46D89F2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992B0-EF55-C49A-7ED9-D01AFE8F2703}"/>
              </a:ext>
            </a:extLst>
          </p:cNvPr>
          <p:cNvSpPr txBox="1">
            <a:spLocks/>
          </p:cNvSpPr>
          <p:nvPr/>
        </p:nvSpPr>
        <p:spPr>
          <a:xfrm>
            <a:off x="708993" y="424981"/>
            <a:ext cx="10503492" cy="81500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defPPr>
              <a:defRPr lang="en-US"/>
            </a:defPPr>
            <a:lvl1pPr defTabSz="914400">
              <a:lnSpc>
                <a:spcPct val="85000"/>
              </a:lnSpc>
              <a:spcBef>
                <a:spcPct val="0"/>
              </a:spcBef>
              <a:buNone/>
              <a:defRPr sz="4800" spc="-50" baseline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IN" dirty="0"/>
              <a:t> X-AI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39FFC79-5F7D-6D36-2E53-2553BACAE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Coronary Artery Disease integrated with X-AI using technique SHAP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A26C3DF-574B-F21F-E806-00A4A6D08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PRMCEAM, BADNERA-AMRAVATI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D8BB036-7D82-1B84-BB1F-584D25BA5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2B982-4A02-40A4-BA6B-3A97BEC7CA34}" type="slidenum">
              <a:rPr lang="en-IN" smtClean="0"/>
              <a:pPr/>
              <a:t>6</a:t>
            </a:fld>
            <a:endParaRPr lang="en-IN" dirty="0"/>
          </a:p>
        </p:txBody>
      </p:sp>
      <p:pic>
        <p:nvPicPr>
          <p:cNvPr id="6" name="Picture 5" descr="A diagram of a machine learning process&#10;&#10;AI-generated content may be incorrect.">
            <a:extLst>
              <a:ext uri="{FF2B5EF4-FFF2-40B4-BE49-F238E27FC236}">
                <a16:creationId xmlns:a16="http://schemas.microsoft.com/office/drawing/2014/main" id="{9D3D549A-E4D3-F51E-B25C-AC42C29D1D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392" y="1315937"/>
            <a:ext cx="7086272" cy="46237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D84EC4-D62B-E8A6-EE14-0C561C8E84C5}"/>
              </a:ext>
            </a:extLst>
          </p:cNvPr>
          <p:cNvSpPr txBox="1"/>
          <p:nvPr/>
        </p:nvSpPr>
        <p:spPr>
          <a:xfrm rot="1465455">
            <a:off x="7280266" y="2028166"/>
            <a:ext cx="1376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?</a:t>
            </a:r>
            <a:endParaRPr lang="en-IN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1674A9-00F8-436B-8D58-260F3C599BE0}"/>
              </a:ext>
            </a:extLst>
          </p:cNvPr>
          <p:cNvSpPr txBox="1"/>
          <p:nvPr/>
        </p:nvSpPr>
        <p:spPr>
          <a:xfrm>
            <a:off x="8671814" y="1392381"/>
            <a:ext cx="29244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Black - Box Model</a:t>
            </a:r>
            <a:endParaRPr lang="en-IN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D7449C-4D44-2261-E2E0-4114B7B7152F}"/>
              </a:ext>
            </a:extLst>
          </p:cNvPr>
          <p:cNvSpPr txBox="1"/>
          <p:nvPr/>
        </p:nvSpPr>
        <p:spPr>
          <a:xfrm>
            <a:off x="8559230" y="3684523"/>
            <a:ext cx="29244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White - Box Model</a:t>
            </a:r>
            <a:endParaRPr lang="en-IN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1C3551-A2F1-0770-1D11-A9309E804B3A}"/>
              </a:ext>
            </a:extLst>
          </p:cNvPr>
          <p:cNvSpPr txBox="1"/>
          <p:nvPr/>
        </p:nvSpPr>
        <p:spPr>
          <a:xfrm>
            <a:off x="8508990" y="2221711"/>
            <a:ext cx="3683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Normally, AI models just say “Yes/No” or give a number. 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1B23BF-4D7F-B295-725F-47ECB6B96458}"/>
              </a:ext>
            </a:extLst>
          </p:cNvPr>
          <p:cNvSpPr txBox="1"/>
          <p:nvPr/>
        </p:nvSpPr>
        <p:spPr>
          <a:xfrm>
            <a:off x="8176483" y="4295493"/>
            <a:ext cx="41055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X-AI, we can explain </a:t>
            </a:r>
            <a:r>
              <a:rPr lang="en-US" i="1" dirty="0"/>
              <a:t>why</a:t>
            </a:r>
            <a:r>
              <a:rPr lang="en-US" dirty="0"/>
              <a:t> the AI is giving that result. For example, if AI says “High Risk,” SHAP can show that “High Cholesterol + Smoking + Age” are the main reasons.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1411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BE4D0-EBD7-7DB0-56C8-FA5E89A4B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BCA6B-C7C0-C020-9908-79D94F3BD4BF}"/>
              </a:ext>
            </a:extLst>
          </p:cNvPr>
          <p:cNvSpPr txBox="1">
            <a:spLocks/>
          </p:cNvSpPr>
          <p:nvPr/>
        </p:nvSpPr>
        <p:spPr>
          <a:xfrm>
            <a:off x="434673" y="242101"/>
            <a:ext cx="10503492" cy="81500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defPPr>
              <a:defRPr lang="en-US"/>
            </a:defPPr>
            <a:lvl1pPr defTabSz="914400">
              <a:lnSpc>
                <a:spcPct val="85000"/>
              </a:lnSpc>
              <a:spcBef>
                <a:spcPct val="0"/>
              </a:spcBef>
              <a:buNone/>
              <a:defRPr sz="4800" spc="-50" baseline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Proposed Method</a:t>
            </a:r>
            <a:endParaRPr lang="en-IN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668823C-5DCD-522C-8A88-BACB71BA6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Coronary Artery Disease integrated with X-AI using technique SHAP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9DD3C5C-8548-D713-0ECC-E78839C0B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PRMCEAM, BADNERA-AMRAVATI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EA38960-EF1B-01B5-0035-DBFB32D49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2B982-4A02-40A4-BA6B-3A97BEC7CA34}" type="slidenum">
              <a:rPr lang="en-IN" smtClean="0"/>
              <a:pPr/>
              <a:t>7</a:t>
            </a:fld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3A13ED-4368-E1F4-A4A8-9936D553067A}"/>
              </a:ext>
            </a:extLst>
          </p:cNvPr>
          <p:cNvSpPr txBox="1"/>
          <p:nvPr/>
        </p:nvSpPr>
        <p:spPr>
          <a:xfrm>
            <a:off x="434673" y="1239989"/>
            <a:ext cx="116840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b="1" dirty="0"/>
              <a:t>Dataset Collection </a:t>
            </a:r>
            <a:r>
              <a:rPr lang="en-IN" sz="2000" dirty="0"/>
              <a:t>→ Heart disease datasets from Kaggle/UCI.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b="1" dirty="0"/>
              <a:t>Data Preprocessing </a:t>
            </a:r>
            <a:r>
              <a:rPr lang="en-IN" sz="2000" dirty="0"/>
              <a:t>→ Cleaning, handling missing values, normalization, encoding.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b="1" dirty="0"/>
              <a:t>Feature Selection</a:t>
            </a:r>
            <a:r>
              <a:rPr lang="en-IN" sz="2000" dirty="0"/>
              <a:t> → Correlation / PCA to select important health features.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b="1" dirty="0"/>
              <a:t>Model Development </a:t>
            </a:r>
            <a:r>
              <a:rPr lang="en-IN" sz="2000" dirty="0"/>
              <a:t>→ Train ML models (Naïve Bayes, Random Forest, </a:t>
            </a:r>
            <a:r>
              <a:rPr lang="en-IN" sz="2000" dirty="0" err="1"/>
              <a:t>XGBoost</a:t>
            </a:r>
            <a:r>
              <a:rPr lang="en-IN" sz="2000" dirty="0"/>
              <a:t>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b="1" dirty="0"/>
              <a:t>Explainable AI (X-AI) </a:t>
            </a:r>
            <a:r>
              <a:rPr lang="en-IN" sz="2000" dirty="0"/>
              <a:t>→ Apply SHAP to interpret predictions.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System Implementation</a:t>
            </a:r>
            <a:r>
              <a:rPr lang="en-US" sz="2000" dirty="0"/>
              <a:t> → Built a user-friendly interface where patients enter details, model predicts risk, 						SHAP shows reasons.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Result &amp; Future Scope</a:t>
            </a:r>
            <a:r>
              <a:rPr lang="en-US" sz="2000" dirty="0"/>
              <a:t> → Achieved accurate and transparent predictions; future integration with hospitals 						and wearable devices.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68125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163E53-7095-842F-F972-AE70E0B7A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Coronary Artery Disease integrated with X-AI using technique SHAP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75E300-A1C6-4677-F546-4FF88C2F4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9646" y="6459786"/>
            <a:ext cx="4822804" cy="365125"/>
          </a:xfrm>
        </p:spPr>
        <p:txBody>
          <a:bodyPr/>
          <a:lstStyle/>
          <a:p>
            <a:r>
              <a:rPr lang="en-IN" dirty="0"/>
              <a:t>PRMCEAM, BADNERA-AMRAVATI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1FCA2-58FA-54BE-85A8-8E2D75CCB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2B982-4A02-40A4-BA6B-3A97BEC7CA34}" type="slidenum">
              <a:rPr lang="en-IN" smtClean="0"/>
              <a:pPr/>
              <a:t>8</a:t>
            </a:fld>
            <a:endParaRPr lang="en-IN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69512060-773D-77D6-A831-3FE162C22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70" y="260098"/>
            <a:ext cx="10363200" cy="5984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5655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CEF4B-212B-04CC-33B2-08CAE63CD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AD02B-6ABF-5A19-1034-713C1D17CB6C}"/>
              </a:ext>
            </a:extLst>
          </p:cNvPr>
          <p:cNvSpPr txBox="1">
            <a:spLocks/>
          </p:cNvSpPr>
          <p:nvPr/>
        </p:nvSpPr>
        <p:spPr>
          <a:xfrm>
            <a:off x="708993" y="424981"/>
            <a:ext cx="10503492" cy="81500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defPPr>
              <a:defRPr lang="en-US"/>
            </a:defPPr>
            <a:lvl1pPr defTabSz="914400">
              <a:lnSpc>
                <a:spcPct val="85000"/>
              </a:lnSpc>
              <a:spcBef>
                <a:spcPct val="0"/>
              </a:spcBef>
              <a:buNone/>
              <a:defRPr sz="4800" spc="-50" baseline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Uses Cases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D43187-98AC-455F-9489-6D2B435F3F00}"/>
              </a:ext>
            </a:extLst>
          </p:cNvPr>
          <p:cNvSpPr txBox="1"/>
          <p:nvPr/>
        </p:nvSpPr>
        <p:spPr>
          <a:xfrm>
            <a:off x="708993" y="1351508"/>
            <a:ext cx="1050349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Early Diagnosis for Patients </a:t>
            </a:r>
            <a:r>
              <a:rPr lang="en-US" sz="2400" dirty="0"/>
              <a:t>-&gt; Helps detect risk of Coronary Artery Disease before severe symptoms appear.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Decision Support for Doctors &amp; Researchers </a:t>
            </a:r>
            <a:r>
              <a:rPr lang="en-US" sz="2400" dirty="0"/>
              <a:t>-&gt; Doctors &amp; Researchers can see which medical doctors and give </a:t>
            </a:r>
            <a:r>
              <a:rPr lang="en-US" sz="2400" dirty="0" err="1"/>
              <a:t>explaination</a:t>
            </a:r>
            <a:r>
              <a:rPr lang="en-US" sz="2400" dirty="0"/>
              <a:t>  - making it easier to trust AI decisions.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Preventive Healthcare </a:t>
            </a:r>
            <a:r>
              <a:rPr lang="en-US" sz="2400" dirty="0"/>
              <a:t>-&gt; Patients with high risk can get lifestyle advice (diet, exercise, quitting smoking) early to prevent disease.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Hospital Integration </a:t>
            </a:r>
            <a:r>
              <a:rPr lang="en-US" sz="2400" dirty="0"/>
              <a:t>-&gt; Can be used in hospital systems (EHR/EMR) to automatically screen patients during check-ups.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5E1D066-9A3F-F822-C3AC-CEC3158AA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Coronary Artery Disease integrated with X-AI using technique SHAP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D749220-FAC5-5EBE-4172-4FA5D5405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PRMCEAM, BADNERA-AMRAVATI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37CAA6-1088-DB3C-D122-7D48CD9E6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2B982-4A02-40A4-BA6B-3A97BEC7CA34}" type="slidenum">
              <a:rPr lang="en-IN" smtClean="0"/>
              <a:pPr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3846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3A88E-7DC0-D525-A66A-1EA18FEDB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B9E7B-47AE-A2A2-BAAE-544BDFCDB922}"/>
              </a:ext>
            </a:extLst>
          </p:cNvPr>
          <p:cNvSpPr txBox="1">
            <a:spLocks/>
          </p:cNvSpPr>
          <p:nvPr/>
        </p:nvSpPr>
        <p:spPr>
          <a:xfrm>
            <a:off x="708993" y="424981"/>
            <a:ext cx="10503492" cy="81500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defPPr>
              <a:defRPr lang="en-US"/>
            </a:defPPr>
            <a:lvl1pPr defTabSz="914400">
              <a:lnSpc>
                <a:spcPct val="85000"/>
              </a:lnSpc>
              <a:spcBef>
                <a:spcPct val="0"/>
              </a:spcBef>
              <a:buNone/>
              <a:defRPr sz="4800" spc="-50" baseline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Conclusion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972863-2185-F045-B4BD-85A677099BFA}"/>
              </a:ext>
            </a:extLst>
          </p:cNvPr>
          <p:cNvSpPr txBox="1"/>
          <p:nvPr/>
        </p:nvSpPr>
        <p:spPr>
          <a:xfrm>
            <a:off x="844253" y="1541563"/>
            <a:ext cx="105034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In conclusion, our project is not just about predicting heart disease.</a:t>
            </a:r>
            <a:br>
              <a:rPr lang="en-US" sz="2400" dirty="0"/>
            </a:br>
            <a:r>
              <a:rPr lang="en-US" sz="2400" dirty="0"/>
              <a:t>It’s about </a:t>
            </a:r>
            <a:r>
              <a:rPr lang="en-US" sz="2400" b="1" dirty="0"/>
              <a:t>predicting with trust, explaining with clarity, and supporting healthcare in a transparent way.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Using X-AI and SHAP, we make sure that every prediction comes with a reason. This makes our system reliable, ethical, and truly useful for doctors and patients.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EF040D9-28C0-5558-A204-466CAA7CB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Coronary Artery Disease integrated with X-AI using technique SHAP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E7D693E-4FC5-A692-9C6E-0F8F466D6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PRMCEAM, BADNERA-AMRAVATI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E208D97-8493-8806-74AA-725C309AC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2B982-4A02-40A4-BA6B-3A97BEC7CA34}" type="slidenum">
              <a:rPr lang="en-IN" smtClean="0"/>
              <a:pPr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4168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EE289-B1EE-C4D4-6F1F-D94CD2408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3C32D-7C3F-8ECC-6DE9-E055E1391F47}"/>
              </a:ext>
            </a:extLst>
          </p:cNvPr>
          <p:cNvSpPr txBox="1">
            <a:spLocks/>
          </p:cNvSpPr>
          <p:nvPr/>
        </p:nvSpPr>
        <p:spPr>
          <a:xfrm>
            <a:off x="684747" y="103464"/>
            <a:ext cx="10503492" cy="81500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defPPr>
              <a:defRPr lang="en-US"/>
            </a:defPPr>
            <a:lvl1pPr defTabSz="914400">
              <a:lnSpc>
                <a:spcPct val="85000"/>
              </a:lnSpc>
              <a:spcBef>
                <a:spcPct val="0"/>
              </a:spcBef>
              <a:buNone/>
              <a:defRPr sz="4800" spc="-50" baseline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Reference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746859-171C-661F-DE83-FD0BB2618E51}"/>
              </a:ext>
            </a:extLst>
          </p:cNvPr>
          <p:cNvSpPr txBox="1"/>
          <p:nvPr/>
        </p:nvSpPr>
        <p:spPr>
          <a:xfrm>
            <a:off x="684747" y="918472"/>
            <a:ext cx="11772900" cy="5021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Ensemble Learning With X-AI for CAD Prediction Based on Multiple Datasets </a:t>
            </a:r>
            <a:r>
              <a:rPr lang="en-US" sz="2400" b="1" i="1" dirty="0"/>
              <a:t>(2025)</a:t>
            </a:r>
            <a:r>
              <a:rPr lang="en-US" sz="2400" dirty="0"/>
              <a:t>  Used stacking &amp; voting ensembles + SHAP to predict heart disease across multiple datasets. </a:t>
            </a:r>
            <a:endParaRPr lang="en-US" sz="2400" b="1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Explainable Artificial Intelligence for Healthcare</a:t>
            </a:r>
            <a:br>
              <a:rPr lang="en-US" sz="2400" dirty="0"/>
            </a:br>
            <a:r>
              <a:rPr lang="en-US" sz="2400" i="1" dirty="0"/>
              <a:t>Holzinger et al. (2019)</a:t>
            </a:r>
            <a:r>
              <a:rPr lang="en-US" sz="2400" dirty="0"/>
              <a:t>: Highlighted the importance of transparency in AI-based medical systems. Stressed on trust and accountability but did not focus specifically on CAD.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SHAP for Medical Predictions</a:t>
            </a:r>
            <a:br>
              <a:rPr lang="en-US" sz="2400" dirty="0"/>
            </a:br>
            <a:r>
              <a:rPr lang="en-US" sz="2400" i="1" dirty="0"/>
              <a:t>Lundberg &amp; Lee (2017)</a:t>
            </a:r>
            <a:r>
              <a:rPr lang="en-US" sz="2400" dirty="0"/>
              <a:t>: Introduced SHAP as a unified approach to explain ML models. Demonstrated on healthcare datasets but not specialized for CAD.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0CCD57-C75C-30D4-4E27-A88B42CAC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Coronary Artery Disease integrated with X-AI using technique SHAP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58051CB-1585-9176-EEA0-0362A8F54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PRMCEAM, BADNERA-AMRAVATI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399EAD0-F5D1-E053-1BE2-68723F2CA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2B982-4A02-40A4-BA6B-3A97BEC7CA34}" type="slidenum">
              <a:rPr lang="en-IN" smtClean="0"/>
              <a:pPr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5573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6EF5F-24B0-7DB5-AEC6-A1E35F733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993B1-E965-032F-BCA1-2AEC0C2A48FD}"/>
              </a:ext>
            </a:extLst>
          </p:cNvPr>
          <p:cNvSpPr txBox="1">
            <a:spLocks/>
          </p:cNvSpPr>
          <p:nvPr/>
        </p:nvSpPr>
        <p:spPr>
          <a:xfrm>
            <a:off x="844254" y="2613992"/>
            <a:ext cx="10492228" cy="1344944"/>
          </a:xfrm>
          <a:prstGeom prst="rect">
            <a:avLst/>
          </a:prstGeom>
          <a:ln>
            <a:noFill/>
          </a:ln>
        </p:spPr>
        <p:txBody>
          <a:bodyPr>
            <a:normAutofit fontScale="85000" lnSpcReduction="20000"/>
          </a:bodyPr>
          <a:lstStyle>
            <a:defPPr>
              <a:defRPr lang="en-US"/>
            </a:defPPr>
            <a:lvl1pPr defTabSz="914400">
              <a:lnSpc>
                <a:spcPct val="85000"/>
              </a:lnSpc>
              <a:spcBef>
                <a:spcPct val="0"/>
              </a:spcBef>
              <a:buNone/>
              <a:defRPr sz="4800" spc="-50" baseline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dirty="0"/>
              <a:t>Thank you so much for your attention.</a:t>
            </a:r>
            <a:br>
              <a:rPr lang="en-US" dirty="0"/>
            </a:br>
            <a:endParaRPr lang="en-US" dirty="0"/>
          </a:p>
          <a:p>
            <a:pPr algn="ctr"/>
            <a:r>
              <a:rPr lang="en-US" dirty="0"/>
              <a:t>We are now open for your questions.</a:t>
            </a:r>
            <a:endParaRPr lang="en-US" b="1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7186F28-77C4-B5D9-3F96-3D83EB61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Coronary Artery Disease integrated with X-AI using technique SHAP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F3D2E5-57C0-B8E9-2E8F-5FA34C368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PRMCEAM, BADNERA-AMRAVATI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687436B-F2BC-4721-FF03-BFC66559F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2B982-4A02-40A4-BA6B-3A97BEC7CA34}" type="slidenum">
              <a:rPr lang="en-IN" smtClean="0"/>
              <a:pPr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164976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1456</TotalTime>
  <Words>969</Words>
  <Application>Microsoft Office PowerPoint</Application>
  <PresentationFormat>Widescreen</PresentationFormat>
  <Paragraphs>108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Times New Roman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Appian  Platform</dc:title>
  <dc:creator>Shailesh Bakale</dc:creator>
  <cp:lastModifiedBy>Tanvi Gawande</cp:lastModifiedBy>
  <cp:revision>44</cp:revision>
  <dcterms:created xsi:type="dcterms:W3CDTF">2025-07-13T17:55:32Z</dcterms:created>
  <dcterms:modified xsi:type="dcterms:W3CDTF">2025-10-10T06:54:01Z</dcterms:modified>
</cp:coreProperties>
</file>